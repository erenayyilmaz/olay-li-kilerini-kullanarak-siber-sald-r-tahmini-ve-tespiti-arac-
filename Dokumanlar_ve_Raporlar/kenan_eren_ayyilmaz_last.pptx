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20"/>
  </p:notesMasterIdLst>
  <p:handoutMasterIdLst>
    <p:handoutMasterId r:id="rId21"/>
  </p:handoutMasterIdLst>
  <p:sldIdLst>
    <p:sldId id="256" r:id="rId2"/>
    <p:sldId id="279" r:id="rId3"/>
    <p:sldId id="297" r:id="rId4"/>
    <p:sldId id="319" r:id="rId5"/>
    <p:sldId id="298" r:id="rId6"/>
    <p:sldId id="299" r:id="rId7"/>
    <p:sldId id="300" r:id="rId8"/>
    <p:sldId id="303" r:id="rId9"/>
    <p:sldId id="317" r:id="rId10"/>
    <p:sldId id="301" r:id="rId11"/>
    <p:sldId id="316" r:id="rId12"/>
    <p:sldId id="324" r:id="rId13"/>
    <p:sldId id="320" r:id="rId14"/>
    <p:sldId id="302" r:id="rId15"/>
    <p:sldId id="321" r:id="rId16"/>
    <p:sldId id="322" r:id="rId17"/>
    <p:sldId id="318" r:id="rId18"/>
    <p:sldId id="293" r:id="rId19"/>
  </p:sldIdLst>
  <p:sldSz cx="9144000" cy="6858000" type="screen4x3"/>
  <p:notesSz cx="6858000" cy="9144000"/>
  <p:defaultTextStyle>
    <a:defPPr>
      <a:defRPr lang="tr-T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8E34"/>
    <a:srgbClr val="FFFFCC"/>
    <a:srgbClr val="050121"/>
    <a:srgbClr val="333333"/>
    <a:srgbClr val="580000"/>
    <a:srgbClr val="969696"/>
    <a:srgbClr val="DDDDDD"/>
    <a:srgbClr val="FEDAD6"/>
    <a:srgbClr val="5D09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4" autoAdjust="0"/>
    <p:restoredTop sz="94660"/>
  </p:normalViewPr>
  <p:slideViewPr>
    <p:cSldViewPr>
      <p:cViewPr>
        <p:scale>
          <a:sx n="75" d="100"/>
          <a:sy n="75" d="100"/>
        </p:scale>
        <p:origin x="1906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41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92B237D-9950-4EB0-91B3-0FEC519831C9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232569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noProof="0"/>
              <a:t>Click to edit Master text styles</a:t>
            </a:r>
          </a:p>
          <a:p>
            <a:pPr lvl="1"/>
            <a:r>
              <a:rPr lang="tr-TR" noProof="0"/>
              <a:t>Second level</a:t>
            </a:r>
          </a:p>
          <a:p>
            <a:pPr lvl="2"/>
            <a:r>
              <a:rPr lang="tr-TR" noProof="0"/>
              <a:t>Third level</a:t>
            </a:r>
          </a:p>
          <a:p>
            <a:pPr lvl="3"/>
            <a:r>
              <a:rPr lang="tr-TR" noProof="0"/>
              <a:t>Fourth level</a:t>
            </a:r>
          </a:p>
          <a:p>
            <a:pPr lvl="4"/>
            <a:r>
              <a:rPr lang="tr-TR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0A91FC6-3D07-4992-B64E-8B2198E1DD72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4965162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C5DFD33A-21C6-4B9C-9B8B-CD137966CD27}" type="slidenum">
              <a:rPr lang="tr-TR" altLang="en-US"/>
              <a:pPr>
                <a:spcBef>
                  <a:spcPct val="0"/>
                </a:spcBef>
              </a:pPr>
              <a:t>1</a:t>
            </a:fld>
            <a:endParaRPr lang="tr-TR" altLang="en-US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9"/>
          <p:cNvSpPr txBox="1">
            <a:spLocks noChangeArrowheads="1"/>
          </p:cNvSpPr>
          <p:nvPr userDrawn="1"/>
        </p:nvSpPr>
        <p:spPr bwMode="auto">
          <a:xfrm>
            <a:off x="5943600" y="200025"/>
            <a:ext cx="2743200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tr-TR" sz="1000" b="1">
                <a:solidFill>
                  <a:srgbClr val="FFFFCC"/>
                </a:solidFill>
                <a:latin typeface="Tahoma" pitchFamily="34" charset="0"/>
              </a:rPr>
              <a:t>Bilgisayar Mühendisliği Bölümü</a:t>
            </a:r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tr-TR"/>
              <a:t>Click to edit Master subtitle style</a:t>
            </a:r>
          </a:p>
        </p:txBody>
      </p:sp>
      <p:sp>
        <p:nvSpPr>
          <p:cNvPr id="90120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066800" y="2057400"/>
            <a:ext cx="7086600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tr-TR"/>
              <a:t>Click to edit Master title style</a:t>
            </a:r>
          </a:p>
        </p:txBody>
      </p:sp>
      <p:sp>
        <p:nvSpPr>
          <p:cNvPr id="9" name="Rectangle 53"/>
          <p:cNvSpPr>
            <a:spLocks noChangeArrowheads="1"/>
          </p:cNvSpPr>
          <p:nvPr userDrawn="1"/>
        </p:nvSpPr>
        <p:spPr bwMode="auto">
          <a:xfrm>
            <a:off x="0" y="10486"/>
            <a:ext cx="9144000" cy="762000"/>
          </a:xfrm>
          <a:prstGeom prst="rect">
            <a:avLst/>
          </a:prstGeom>
          <a:gradFill rotWithShape="1">
            <a:gsLst>
              <a:gs pos="0">
                <a:schemeClr val="accent1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sp>
        <p:nvSpPr>
          <p:cNvPr id="10" name="Rectangle 59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pic>
        <p:nvPicPr>
          <p:cNvPr id="11" name="Picture 15" descr="C:\Users\rehin99\Desktop\bilg-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571500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6" descr="C:\Users\rehin99\Desktop\gtu-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79752"/>
            <a:ext cx="2786738" cy="174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39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" y="914400"/>
            <a:ext cx="7391400" cy="541020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6EA505-76AA-495E-815C-8AF94549A6BB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65808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dirty="0"/>
              <a:t>As</a:t>
            </a:r>
            <a:r>
              <a:rPr lang="en-US" dirty="0"/>
              <a:t>I</a:t>
            </a:r>
            <a:r>
              <a:rPr lang="tr-TR" dirty="0"/>
              <a:t>l başl</a:t>
            </a:r>
            <a:r>
              <a:rPr lang="en-US" dirty="0"/>
              <a:t>I</a:t>
            </a:r>
            <a:r>
              <a:rPr lang="tr-TR" dirty="0"/>
              <a:t>k st</a:t>
            </a:r>
            <a:r>
              <a:rPr lang="en-US" dirty="0"/>
              <a:t>İ</a:t>
            </a:r>
            <a:r>
              <a:rPr lang="tr-TR" dirty="0"/>
              <a:t>l</a:t>
            </a:r>
            <a:r>
              <a:rPr lang="en-US" dirty="0"/>
              <a:t>İ</a:t>
            </a:r>
            <a:r>
              <a:rPr lang="tr-TR" dirty="0"/>
              <a:t> </a:t>
            </a:r>
            <a:r>
              <a:rPr lang="en-US" dirty="0"/>
              <a:t>İ</a:t>
            </a:r>
            <a:r>
              <a:rPr lang="tr-TR" dirty="0"/>
              <a:t>ç</a:t>
            </a:r>
            <a:r>
              <a:rPr lang="en-US" dirty="0"/>
              <a:t>İ</a:t>
            </a:r>
            <a:r>
              <a:rPr lang="tr-TR" dirty="0"/>
              <a:t>n t</a:t>
            </a:r>
            <a:r>
              <a:rPr lang="en-US" dirty="0"/>
              <a:t>I</a:t>
            </a:r>
            <a:r>
              <a:rPr lang="tr-TR" dirty="0"/>
              <a:t>klat</a:t>
            </a:r>
            <a:r>
              <a:rPr lang="en-US" dirty="0"/>
              <a:t>I</a:t>
            </a:r>
            <a:r>
              <a:rPr lang="tr-TR" dirty="0"/>
              <a:t>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4D7A41-DB7E-4B7C-B1E7-203553C448B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45320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43434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3434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E408D4-2E9F-4A26-A3CA-FB0C52E2551E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037874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6200" y="-1524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83EE2D-B193-4DF7-8E07-E2831ABD391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1449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0A55CB-0D82-4FA8-8283-1D0C577030E3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3788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E3BFC5-E015-41F6-9033-8F7EE7066BAD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9650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09A257-28E3-40ED-A2ED-369606B291D9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96285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9FACF8-D009-4AE7-A9E5-7C11E06AD1D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57693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EBBE5D-72DA-403E-982F-97DD55B39862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81134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81800" y="106363"/>
            <a:ext cx="2209800" cy="6218237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52400" y="106363"/>
            <a:ext cx="6477000" cy="6218237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6C3EE3-4607-44C8-828A-37A7AE255143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431157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6363"/>
            <a:ext cx="8534400" cy="5794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795CC5-F219-49B7-9754-EF0E854EBEB8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8137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9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sp>
        <p:nvSpPr>
          <p:cNvPr id="1027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14400"/>
            <a:ext cx="8839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 dirty="0"/>
              <a:t>Click to edit Master text styles</a:t>
            </a:r>
          </a:p>
          <a:p>
            <a:pPr lvl="1"/>
            <a:r>
              <a:rPr lang="tr-TR" altLang="en-US" dirty="0"/>
              <a:t>Second level</a:t>
            </a:r>
          </a:p>
          <a:p>
            <a:pPr lvl="2"/>
            <a:r>
              <a:rPr lang="tr-TR" altLang="en-US" dirty="0"/>
              <a:t>Third level</a:t>
            </a:r>
          </a:p>
          <a:p>
            <a:pPr lvl="3"/>
            <a:r>
              <a:rPr lang="tr-TR" altLang="en-US" dirty="0"/>
              <a:t>Fourth level</a:t>
            </a:r>
          </a:p>
          <a:p>
            <a:pPr lvl="4"/>
            <a:r>
              <a:rPr lang="tr-TR" altLang="en-US" dirty="0"/>
              <a:t>Fifth level</a:t>
            </a:r>
          </a:p>
        </p:txBody>
      </p:sp>
      <p:sp>
        <p:nvSpPr>
          <p:cNvPr id="35890" name="Rectangle 5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457200" cy="76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FFFFE5"/>
                </a:solidFill>
              </a:defRPr>
            </a:lvl1pPr>
          </a:lstStyle>
          <a:p>
            <a:fld id="{68795CC5-F219-49B7-9754-EF0E854EBEB8}" type="slidenum">
              <a:rPr lang="tr-TR" altLang="en-US"/>
              <a:pPr/>
              <a:t>‹#›</a:t>
            </a:fld>
            <a:endParaRPr lang="tr-TR" altLang="en-US"/>
          </a:p>
        </p:txBody>
      </p:sp>
      <p:sp>
        <p:nvSpPr>
          <p:cNvPr id="1030" name="Rectangle 53"/>
          <p:cNvSpPr>
            <a:spLocks noChangeArrowheads="1"/>
          </p:cNvSpPr>
          <p:nvPr userDrawn="1"/>
        </p:nvSpPr>
        <p:spPr bwMode="auto">
          <a:xfrm>
            <a:off x="0" y="10486"/>
            <a:ext cx="9144000" cy="762000"/>
          </a:xfrm>
          <a:prstGeom prst="rect">
            <a:avLst/>
          </a:prstGeom>
          <a:gradFill rotWithShape="1">
            <a:gsLst>
              <a:gs pos="100000">
                <a:schemeClr val="accent1">
                  <a:lumMod val="75000"/>
                </a:schemeClr>
              </a:gs>
              <a:gs pos="0">
                <a:schemeClr val="accent5">
                  <a:lumMod val="50000"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sp>
        <p:nvSpPr>
          <p:cNvPr id="1031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06363"/>
            <a:ext cx="784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 dirty="0"/>
              <a:t>Başlık</a:t>
            </a:r>
          </a:p>
        </p:txBody>
      </p:sp>
      <p:sp>
        <p:nvSpPr>
          <p:cNvPr id="3" name="Text Box 68"/>
          <p:cNvSpPr txBox="1">
            <a:spLocks noChangeArrowheads="1"/>
          </p:cNvSpPr>
          <p:nvPr userDrawn="1"/>
        </p:nvSpPr>
        <p:spPr bwMode="auto">
          <a:xfrm>
            <a:off x="1447800" y="6536422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tr-T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GT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Ü </a:t>
            </a:r>
            <a:r>
              <a:rPr lang="tr-T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-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 </a:t>
            </a:r>
            <a:r>
              <a:rPr lang="tr-T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Bilgisayar Mühendisliği Bölümü</a:t>
            </a:r>
          </a:p>
        </p:txBody>
      </p:sp>
      <p:pic>
        <p:nvPicPr>
          <p:cNvPr id="1039" name="Picture 15" descr="C:\Users\rehin99\Desktop\bilg-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3" y="5867400"/>
            <a:ext cx="985007" cy="98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:\Users\rehin99\Desktop\gtu-logo.png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3955"/>
            <a:ext cx="1110043" cy="69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Box 68"/>
          <p:cNvSpPr txBox="1">
            <a:spLocks noChangeArrowheads="1"/>
          </p:cNvSpPr>
          <p:nvPr userDrawn="1"/>
        </p:nvSpPr>
        <p:spPr bwMode="auto">
          <a:xfrm>
            <a:off x="4572000" y="6529000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BİL 495/496 </a:t>
            </a:r>
            <a:r>
              <a:rPr lang="en-US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Bitirme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Projesi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 </a:t>
            </a:r>
            <a:endParaRPr lang="tr-TR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Batang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2209800"/>
            <a:ext cx="8763000" cy="1524000"/>
          </a:xfrm>
        </p:spPr>
        <p:txBody>
          <a:bodyPr/>
          <a:lstStyle/>
          <a:p>
            <a:pPr eaLnBrk="1" hangingPunct="1"/>
            <a:r>
              <a:rPr lang="tr-TR" sz="3600" dirty="0"/>
              <a:t>Olay ilişkilerini kullanarak Siber saldırı tahmini/tespiti aracı</a:t>
            </a:r>
            <a:endParaRPr lang="tr-TR" altLang="en-US" sz="36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810000"/>
            <a:ext cx="6400800" cy="3429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tr-TR" altLang="en-US" sz="2000" b="1" dirty="0"/>
          </a:p>
          <a:p>
            <a:pPr eaLnBrk="1" hangingPunct="1">
              <a:lnSpc>
                <a:spcPct val="80000"/>
              </a:lnSpc>
            </a:pPr>
            <a:r>
              <a:rPr lang="tr-TR" altLang="en-US" sz="2000" b="1" dirty="0"/>
              <a:t>BIL 496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000" b="1" dirty="0"/>
              <a:t>Final Presentation</a:t>
            </a:r>
            <a:endParaRPr lang="en-US" altLang="en-US" sz="2000" b="1" dirty="0"/>
          </a:p>
          <a:p>
            <a:pPr eaLnBrk="1" hangingPunct="1">
              <a:lnSpc>
                <a:spcPct val="80000"/>
              </a:lnSpc>
            </a:pPr>
            <a:endParaRPr lang="tr-TR" altLang="en-US" sz="1400" dirty="0"/>
          </a:p>
          <a:p>
            <a:pPr eaLnBrk="1" hangingPunct="1">
              <a:lnSpc>
                <a:spcPct val="80000"/>
              </a:lnSpc>
            </a:pPr>
            <a:endParaRPr lang="tr-TR" altLang="en-US" sz="1400" dirty="0"/>
          </a:p>
          <a:p>
            <a:pPr eaLnBrk="1" hangingPunct="1">
              <a:lnSpc>
                <a:spcPct val="80000"/>
              </a:lnSpc>
            </a:pPr>
            <a:r>
              <a:rPr lang="tr-TR" altLang="en-US" sz="2000" b="1" dirty="0"/>
              <a:t>Kenan Eren Ayyılmaz</a:t>
            </a:r>
          </a:p>
          <a:p>
            <a:pPr eaLnBrk="1" hangingPunct="1">
              <a:lnSpc>
                <a:spcPct val="80000"/>
              </a:lnSpc>
            </a:pPr>
            <a:endParaRPr lang="tr-TR" altLang="en-US" sz="2000" b="1" dirty="0"/>
          </a:p>
          <a:p>
            <a:pPr eaLnBrk="1" hangingPunct="1">
              <a:lnSpc>
                <a:spcPct val="80000"/>
              </a:lnSpc>
            </a:pPr>
            <a:r>
              <a:rPr lang="tr-TR" altLang="en-US" sz="2000" b="1" dirty="0"/>
              <a:t>Proje Danışmanı: </a:t>
            </a:r>
            <a:r>
              <a:rPr lang="tr-TR" sz="1600" b="1" dirty="0"/>
              <a:t>Prof. Dr. İbrahim SOĞUKPINAR </a:t>
            </a:r>
            <a:endParaRPr lang="tr-TR" altLang="en-US" sz="2000" b="1" dirty="0"/>
          </a:p>
          <a:p>
            <a:pPr eaLnBrk="1" hangingPunct="1">
              <a:lnSpc>
                <a:spcPct val="80000"/>
              </a:lnSpc>
            </a:pPr>
            <a:r>
              <a:rPr lang="tr-TR" altLang="en-US" sz="1800" b="1" dirty="0"/>
              <a:t>Aralık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48BAE4-1571-57C3-9328-DB3E72EE5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dirty="0"/>
              <a:t>Project </a:t>
            </a:r>
            <a:r>
              <a:rPr lang="tr-TR" sz="3200" dirty="0" err="1"/>
              <a:t>Overview</a:t>
            </a:r>
            <a:r>
              <a:rPr lang="tr-TR" sz="3200" dirty="0"/>
              <a:t> </a:t>
            </a:r>
            <a:r>
              <a:rPr lang="tr-TR" sz="3200" dirty="0" err="1"/>
              <a:t>and</a:t>
            </a:r>
            <a:r>
              <a:rPr lang="tr-TR" sz="3200" dirty="0"/>
              <a:t> </a:t>
            </a:r>
            <a:r>
              <a:rPr lang="tr-TR" sz="3200" dirty="0" err="1"/>
              <a:t>Objectives</a:t>
            </a:r>
            <a:endParaRPr lang="tr-TR" sz="66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E94A621-955E-6AB1-F959-4A52D55ADA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2</a:t>
            </a:fld>
            <a:endParaRPr lang="tr-T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543BDC-BAFA-8BFE-A99D-B89BCDAB53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016" y="1489197"/>
            <a:ext cx="9046066" cy="4222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800" b="1" dirty="0"/>
              <a:t>Project Scope: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 system that analyzes security logs from IT systems using artificial intelligence </a:t>
            </a:r>
            <a:endParaRPr lang="tr-T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An innovative approach that automatically detects complex attack patterns</a:t>
            </a:r>
          </a:p>
          <a:p>
            <a:pPr>
              <a:buNone/>
            </a:pPr>
            <a:r>
              <a:rPr lang="en-US" sz="1800" b="1" dirty="0"/>
              <a:t>Problem Definition: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Modern cyber attacks are not isolated events but chains of interconnected incidents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Detecting relational security threats among millions of daily logs is challenging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Data format issues and high percentages of missing values</a:t>
            </a:r>
          </a:p>
          <a:p>
            <a:pPr>
              <a:buNone/>
            </a:pPr>
            <a:r>
              <a:rPr lang="en-US" sz="1800" b="1" dirty="0"/>
              <a:t>Target Solution: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Providing comprehensive and understandable reports to security experts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Classifying attack models according to the MITRE ATT&amp;CK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0264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0D55F-3119-1053-947D-667E50CB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8B0417-A5AB-63D4-D7BC-9AFB7E07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dirty="0"/>
              <a:t>T</a:t>
            </a:r>
            <a:r>
              <a:rPr lang="en-US" sz="3200" dirty="0"/>
              <a:t>he Challenge: Drowning in Data</a:t>
            </a:r>
            <a:endParaRPr lang="tr-TR" sz="66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DB416B0-63B2-91B0-E642-CC75F92EE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3</a:t>
            </a:fld>
            <a:endParaRPr lang="tr-T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C2ADDB4-4206-576A-B1EB-212F138DFF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5584" y="990600"/>
            <a:ext cx="7532831" cy="136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Problem Statement: The overwhelming volume and velocity </a:t>
            </a:r>
            <a:endParaRPr lang="tr-TR" sz="1800" b="1" dirty="0"/>
          </a:p>
          <a:p>
            <a:pPr marL="0" indent="0">
              <a:buNone/>
            </a:pPr>
            <a:r>
              <a:rPr lang="en-US" sz="1800" b="1" dirty="0"/>
              <a:t>of log data.</a:t>
            </a:r>
          </a:p>
          <a:p>
            <a:r>
              <a:rPr lang="en-US" sz="1800" b="1" dirty="0"/>
              <a:t>    Goal: To build an automated system that intelligently detects </a:t>
            </a:r>
            <a:endParaRPr lang="tr-TR" sz="1800" b="1" dirty="0"/>
          </a:p>
          <a:p>
            <a:pPr marL="0" indent="0">
              <a:buNone/>
            </a:pPr>
            <a:r>
              <a:rPr lang="en-US" sz="1800" b="1" dirty="0"/>
              <a:t>and contextualizes threats.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7305A3FD-AF56-C73C-3BF4-95F78EB6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381" y="2556260"/>
            <a:ext cx="2436211" cy="3121152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977548C8-E714-432D-A201-577B7A82B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562356"/>
            <a:ext cx="1532522" cy="3115056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74FB45D4-BA34-A573-D12B-EF75E987C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018" y="2556259"/>
            <a:ext cx="1694465" cy="3098783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3FAAFE68-17CA-97CB-0E92-A0D5A575F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7490" y="2568543"/>
            <a:ext cx="1811472" cy="308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53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934F78-2313-EB07-1854-94455805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B90B640-BBB4-2DA4-651F-C7A640B83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26D0D35-7F37-69D3-2177-974E88EF2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4</a:t>
            </a:fld>
            <a:endParaRPr lang="tr-TR" altLang="en-US"/>
          </a:p>
        </p:txBody>
      </p:sp>
      <p:pic>
        <p:nvPicPr>
          <p:cNvPr id="5" name="Resim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A3314CF-66C5-4657-A2FB-038C27661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799"/>
            <a:ext cx="4343400" cy="1585340"/>
          </a:xfrm>
          <a:prstGeom prst="rect">
            <a:avLst/>
          </a:prstGeom>
          <a:noFill/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C5463A3F-DF59-158A-021D-5EE46C041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2167582"/>
            <a:ext cx="4800600" cy="202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D2F2E100-D085-B07C-4C03-91D58FFEF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08" y="4193669"/>
            <a:ext cx="3771900" cy="1860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676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E2F6-CF8C-959B-FC69-69A76EDA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7BBE11-09C6-CA91-7707-699BCE22B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06363"/>
            <a:ext cx="7848600" cy="579437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3400"/>
              <a:t>5-Stage Analysis </a:t>
            </a:r>
            <a:r>
              <a:rPr lang="tr-TR" sz="3400" err="1"/>
              <a:t>Pipeline</a:t>
            </a:r>
            <a:endParaRPr lang="tr-TR" sz="34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FD6615-3E58-1F77-2810-2BFCD988304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48200" y="914400"/>
            <a:ext cx="4343400" cy="5410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r>
              <a:rPr lang="en-US" dirty="0"/>
              <a:t>1.  Data Ingestion &amp; Validation</a:t>
            </a:r>
          </a:p>
          <a:p>
            <a:pPr>
              <a:buNone/>
            </a:pPr>
            <a:r>
              <a:rPr lang="en-US" dirty="0"/>
              <a:t>2.  Advanced Feature Engineering</a:t>
            </a:r>
          </a:p>
          <a:p>
            <a:pPr>
              <a:buNone/>
            </a:pPr>
            <a:r>
              <a:rPr lang="en-US" dirty="0"/>
              <a:t>3.  Multi-Algorithm Anomaly Detection</a:t>
            </a:r>
          </a:p>
          <a:p>
            <a:pPr>
              <a:buNone/>
            </a:pPr>
            <a:r>
              <a:rPr lang="en-US" dirty="0"/>
              <a:t>4.  Advanced Threat Intelligence</a:t>
            </a:r>
          </a:p>
          <a:p>
            <a:pPr>
              <a:buNone/>
            </a:pPr>
            <a:r>
              <a:rPr lang="en-US" dirty="0"/>
              <a:t>5.  Automated Reporting &amp; Visualization</a:t>
            </a:r>
            <a:endParaRPr kumimoji="0" lang="tr-TR" altLang="tr-TR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0CEDD0F-7E01-0E7C-CCDA-BEA2E8A71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</p:spPr>
        <p:txBody>
          <a:bodyPr wrap="square" anchor="t">
            <a:normAutofit fontScale="2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06EA505-76AA-495E-815C-8AF94549A6BB}" type="slidenum">
              <a:rPr lang="tr-TR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tr-TR" altLang="en-US" sz="30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C2DEEDEC-460B-A68B-837A-DA14F636E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899160"/>
            <a:ext cx="2582785" cy="502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761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D0CB-06E7-310B-A5D2-D1942D069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AF2F31-63FB-A75F-F9DC-1BFAAEF6D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06363"/>
            <a:ext cx="7848600" cy="579437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Stage 1 &amp; 2: Building the Foundation</a:t>
            </a:r>
            <a:endParaRPr lang="tr-TR" sz="34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01CB530-89CF-BB1C-D415-AA036ECD73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" y="914400"/>
            <a:ext cx="7391400" cy="5410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r>
              <a:rPr lang="en-US" sz="2000" b="1" dirty="0"/>
              <a:t>Data Ingestion:</a:t>
            </a:r>
            <a:r>
              <a:rPr lang="tr-TR" sz="2000" b="1" dirty="0"/>
              <a:t> </a:t>
            </a:r>
            <a:r>
              <a:rPr lang="en-US" sz="2000" b="1" dirty="0"/>
              <a:t>Robustly parsing and validating over 2</a:t>
            </a:r>
            <a:r>
              <a:rPr lang="tr-TR" sz="2000" b="1" dirty="0"/>
              <a:t>000000</a:t>
            </a:r>
            <a:r>
              <a:rPr lang="en-US" sz="2000" b="1" dirty="0"/>
              <a:t> log events.</a:t>
            </a:r>
          </a:p>
          <a:p>
            <a:pPr>
              <a:buNone/>
            </a:pPr>
            <a:r>
              <a:rPr lang="en-US" sz="2000" b="1" dirty="0"/>
              <a:t>Feature Engineering:</a:t>
            </a:r>
            <a:r>
              <a:rPr lang="tr-TR" sz="2000" b="1" dirty="0"/>
              <a:t> </a:t>
            </a:r>
            <a:r>
              <a:rPr lang="en-US" sz="2000" b="1" dirty="0"/>
              <a:t>Going beyond simple logs. Creating 58 intelligent </a:t>
            </a:r>
            <a:endParaRPr lang="tr-TR" sz="2000" b="1" dirty="0"/>
          </a:p>
          <a:p>
            <a:pPr>
              <a:buNone/>
            </a:pPr>
            <a:r>
              <a:rPr lang="en-US" sz="2000" b="1" dirty="0"/>
              <a:t>features.</a:t>
            </a:r>
          </a:p>
          <a:p>
            <a:pPr>
              <a:buNone/>
            </a:pPr>
            <a:r>
              <a:rPr lang="en-US" sz="2000" b="1" dirty="0"/>
              <a:t>Examples:</a:t>
            </a:r>
            <a:r>
              <a:rPr lang="tr-TR" sz="2000" b="1" dirty="0"/>
              <a:t> </a:t>
            </a:r>
            <a:r>
              <a:rPr lang="en-US" sz="2000" b="1" dirty="0"/>
              <a:t>Cyclical Temporal Features (sin/cos of hour), Shannon Entropy</a:t>
            </a:r>
            <a:r>
              <a:rPr lang="tr-TR" sz="2000" b="1" dirty="0"/>
              <a:t> </a:t>
            </a:r>
            <a:r>
              <a:rPr lang="en-US" sz="2000" b="1" dirty="0"/>
              <a:t>for text, and Per-Node Behavioral Statistics.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DE5F43E-D5C8-C492-E5EB-95539A972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</p:spPr>
        <p:txBody>
          <a:bodyPr wrap="square" anchor="t">
            <a:normAutofit fontScale="2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06EA505-76AA-495E-815C-8AF94549A6BB}" type="slidenum">
              <a:rPr lang="tr-TR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tr-TR" altLang="en-US" sz="30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72EDC9A9-825A-5939-D90F-FCBF719B6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06" y="3810000"/>
            <a:ext cx="4066893" cy="1977118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90232B7B-0B8E-75FE-D730-FF2051D81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331" y="4041280"/>
            <a:ext cx="4397403" cy="151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8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AD85-5E1C-09D8-7321-CF149BC3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03F259-D096-6A31-4505-5AD510A6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06363"/>
            <a:ext cx="7848600" cy="579437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Multi-Algorithm Anomaly Detection</a:t>
            </a:r>
            <a:endParaRPr lang="tr-TR" sz="34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A4D3FF3-8289-013E-A6F9-EBF05E9531A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2400" y="914400"/>
            <a:ext cx="4343400" cy="5410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200" b="1" dirty="0"/>
              <a:t>No single algorithm is enough.</a:t>
            </a:r>
          </a:p>
          <a:p>
            <a:pPr>
              <a:lnSpc>
                <a:spcPct val="90000"/>
              </a:lnSpc>
            </a:pPr>
            <a:r>
              <a:rPr lang="en-US" sz="2200" b="1" dirty="0"/>
              <a:t>Ensemble Approach:</a:t>
            </a:r>
            <a:r>
              <a:rPr lang="tr-TR" sz="2200" b="1" dirty="0"/>
              <a:t> </a:t>
            </a:r>
            <a:r>
              <a:rPr lang="en-US" sz="2200" b="1" dirty="0"/>
              <a:t>Combining multiple models for robust detection.</a:t>
            </a:r>
          </a:p>
          <a:p>
            <a:pPr>
              <a:lnSpc>
                <a:spcPct val="90000"/>
              </a:lnSpc>
            </a:pPr>
            <a:r>
              <a:rPr lang="en-US" sz="2200" b="1" dirty="0"/>
              <a:t>Isolation Forest:</a:t>
            </a:r>
            <a:r>
              <a:rPr lang="tr-TR" sz="2200" b="1" dirty="0"/>
              <a:t> </a:t>
            </a:r>
            <a:r>
              <a:rPr lang="en-US" sz="2200" b="1" dirty="0"/>
              <a:t>For speed and efficiency in finding outliers.</a:t>
            </a:r>
          </a:p>
          <a:p>
            <a:pPr>
              <a:lnSpc>
                <a:spcPct val="90000"/>
              </a:lnSpc>
            </a:pPr>
            <a:r>
              <a:rPr lang="en-US" sz="2200" b="1" dirty="0"/>
              <a:t>Mini-Batch K-Means:</a:t>
            </a:r>
            <a:r>
              <a:rPr lang="tr-TR" sz="2200" b="1" dirty="0"/>
              <a:t> </a:t>
            </a:r>
            <a:r>
              <a:rPr lang="en-US" sz="2200" b="1" dirty="0"/>
              <a:t>To identify rare behavioral patterns and events </a:t>
            </a:r>
            <a:endParaRPr lang="tr-TR" sz="2200" b="1" dirty="0"/>
          </a:p>
          <a:p>
            <a:pPr>
              <a:lnSpc>
                <a:spcPct val="90000"/>
              </a:lnSpc>
              <a:buNone/>
            </a:pPr>
            <a:r>
              <a:rPr lang="en-US" sz="2200" b="1" dirty="0"/>
              <a:t>far from their normal cluster.</a:t>
            </a:r>
          </a:p>
          <a:p>
            <a:pPr>
              <a:lnSpc>
                <a:spcPct val="90000"/>
              </a:lnSpc>
            </a:pPr>
            <a:r>
              <a:rPr lang="en-US" sz="2200" b="1" dirty="0"/>
              <a:t>A weighted scoring system (`</a:t>
            </a:r>
            <a:r>
              <a:rPr lang="en-US" sz="2200" b="1" dirty="0" err="1"/>
              <a:t>weighted_anomaly_score</a:t>
            </a:r>
            <a:r>
              <a:rPr lang="en-US" sz="2200" b="1" dirty="0"/>
              <a:t>`) to produce a final confidence score.</a:t>
            </a:r>
            <a:endParaRPr kumimoji="0" lang="tr-TR" altLang="tr-TR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C12105EA-6DF1-1717-1850-7812FFB11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296826"/>
            <a:ext cx="4343400" cy="4645348"/>
          </a:xfrm>
          <a:prstGeom prst="rect">
            <a:avLst/>
          </a:prstGeom>
          <a:noFill/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95701F2-67A0-F62E-79B4-89FA4AADAA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</p:spPr>
        <p:txBody>
          <a:bodyPr wrap="square" anchor="t">
            <a:normAutofit fontScale="2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06EA505-76AA-495E-815C-8AF94549A6BB}" type="slidenum">
              <a:rPr lang="tr-TR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tr-TR" altLang="en-US" sz="300"/>
          </a:p>
        </p:txBody>
      </p:sp>
    </p:spTree>
    <p:extLst>
      <p:ext uri="{BB962C8B-B14F-4D97-AF65-F5344CB8AC3E}">
        <p14:creationId xmlns:p14="http://schemas.microsoft.com/office/powerpoint/2010/main" val="3775644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6CE4D-C1B3-C5E3-8B83-916D93D12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84B646-6F0C-66EE-61A5-1BC2486D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Layer 3: The Unsupervised Anomaly Detection Engine</a:t>
            </a:r>
            <a:endParaRPr lang="tr-TR" sz="24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8059B70-5A78-63CB-5E34-E4D4AF64E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8</a:t>
            </a:fld>
            <a:endParaRPr lang="tr-TR" alt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8DE6572-DE11-46E8-505C-BC367B20C1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021" y="1373088"/>
            <a:ext cx="867897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Philosophy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ensemble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of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diverse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outperforms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single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algorithm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Core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Models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Isolation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Forest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Chosen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speed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effectiveness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on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high-dimensional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data.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contamination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='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auto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'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dynamic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thresholding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Mini-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Batch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K-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Means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Chosen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scalability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power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a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dual-logic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approach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flagging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events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rare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clusters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small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cluster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size) OR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events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tr-TR" altLang="tr-TR" sz="2000" dirty="0">
                <a:latin typeface="+mj-lt"/>
              </a:rPr>
              <a:t>f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from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their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own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cluster's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center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distance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Feature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Scaling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Using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RobustScaler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prevent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outliers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searching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from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skewing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data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distribution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DDBC79C-0537-93F9-715F-58D15E5A1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791" y="4927163"/>
            <a:ext cx="4087888" cy="162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5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CD30D5-050D-19F1-5858-5C875066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dirty="0"/>
              <a:t>L</a:t>
            </a:r>
            <a:r>
              <a:rPr lang="en-US" sz="3200" dirty="0" err="1"/>
              <a:t>ayer</a:t>
            </a:r>
            <a:r>
              <a:rPr lang="en-US" sz="3200" dirty="0"/>
              <a:t> 4: The Threat Intelligence Engine</a:t>
            </a:r>
            <a:endParaRPr lang="tr-TR" sz="32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865A5BC-F258-5903-6DC7-1AE137130C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9</a:t>
            </a:fld>
            <a:endParaRPr lang="tr-T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9B88C7B-1ACA-B225-E1A9-1C5AB5FC79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888" y="612844"/>
            <a:ext cx="907011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is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where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translate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statistical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anomalies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into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named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security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threats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Hybrid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Four-Pronged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Strategy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Signature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Matching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known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low-hanging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fruit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e.g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.,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brute_force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keywords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Behavioral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Analysis: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Using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rolling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windows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(.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rolling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().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mean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())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detect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sudden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changes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e.g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.,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spike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error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rates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Correlation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Engine: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Groups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temporally-adjacent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anomalies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into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single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incident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correlation_window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Heuristic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Classifier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(_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classify_correlated_threat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):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function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acts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as a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simple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expert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system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labeling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correlated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groups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based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on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characteristics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like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node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count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and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time span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e.g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., &gt;3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nodes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=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coordinated_attack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0992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0692A-2B8B-C388-3C5D-E5FFFDA0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EBF8A7-7708-5C0D-6BD4-045581FF3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06363"/>
            <a:ext cx="7848600" cy="579437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From Anomalies to Actionable Threats</a:t>
            </a:r>
            <a:endParaRPr lang="tr-TR" sz="34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5C39979-E3BE-6352-359A-AF57B9BC211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2400" y="914400"/>
            <a:ext cx="9067800" cy="5410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tr-TR" sz="1800" b="1" dirty="0"/>
              <a:t> </a:t>
            </a:r>
            <a:r>
              <a:rPr lang="tr-TR" sz="1800" b="1" dirty="0" err="1"/>
              <a:t>This</a:t>
            </a:r>
            <a:r>
              <a:rPr lang="tr-TR" sz="1800" b="1" dirty="0"/>
              <a:t> is </a:t>
            </a:r>
            <a:r>
              <a:rPr lang="tr-TR" sz="1800" b="1" dirty="0" err="1"/>
              <a:t>where</a:t>
            </a:r>
            <a:r>
              <a:rPr lang="tr-TR" sz="1800" b="1" dirty="0"/>
              <a:t> </a:t>
            </a:r>
            <a:r>
              <a:rPr lang="tr-TR" sz="1800" b="1" dirty="0" err="1"/>
              <a:t>raw</a:t>
            </a:r>
            <a:r>
              <a:rPr lang="tr-TR" sz="1800" b="1" dirty="0"/>
              <a:t> data </a:t>
            </a:r>
            <a:r>
              <a:rPr lang="tr-TR" sz="1800" b="1" dirty="0" err="1"/>
              <a:t>becomes</a:t>
            </a:r>
            <a:r>
              <a:rPr lang="tr-TR" sz="1800" b="1" dirty="0"/>
              <a:t> </a:t>
            </a:r>
            <a:r>
              <a:rPr lang="tr-TR" sz="1800" b="1" dirty="0" err="1"/>
              <a:t>intelligence</a:t>
            </a:r>
            <a:r>
              <a:rPr lang="tr-TR" sz="1800" b="1" dirty="0"/>
              <a:t>.</a:t>
            </a:r>
          </a:p>
          <a:p>
            <a:pPr>
              <a:lnSpc>
                <a:spcPct val="90000"/>
              </a:lnSpc>
              <a:buNone/>
            </a:pPr>
            <a:r>
              <a:rPr lang="tr-TR" sz="1800" b="1" dirty="0"/>
              <a:t>    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6" name="Resim 5" descr="metin, diyagram, ekran görüntüsü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9AB1420-DDFA-A9BC-E17C-B812666F7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569720"/>
            <a:ext cx="6096000" cy="4099559"/>
          </a:xfrm>
          <a:prstGeom prst="rect">
            <a:avLst/>
          </a:prstGeom>
          <a:noFill/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F8573D5-B5D1-C512-3C0A-CEF311EBA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</p:spPr>
        <p:txBody>
          <a:bodyPr wrap="square" anchor="t">
            <a:normAutofit fontScale="2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06EA505-76AA-495E-815C-8AF94549A6BB}" type="slidenum">
              <a:rPr lang="tr-TR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tr-TR" altLang="en-US" sz="300"/>
          </a:p>
        </p:txBody>
      </p:sp>
    </p:spTree>
    <p:extLst>
      <p:ext uri="{BB962C8B-B14F-4D97-AF65-F5344CB8AC3E}">
        <p14:creationId xmlns:p14="http://schemas.microsoft.com/office/powerpoint/2010/main" val="2706351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F34F3B-A874-FAF1-0C37-160D917A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Illustrative Finding: Proving the Architecture's Power</a:t>
            </a:r>
            <a:endParaRPr lang="tr-TR" sz="24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C369B9B-6D0D-D080-1DA7-905E3272C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11</a:t>
            </a:fld>
            <a:endParaRPr lang="tr-TR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05BB24A-9808-A1A8-4582-2AE16D2B12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064" y="713232"/>
            <a:ext cx="875111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Case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Study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Threat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TH_0004 -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Coordinated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Attack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it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was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found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Not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single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rule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Step 1: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ML Engine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flagged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123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individual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events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across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network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low-confidence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anomalies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Step 2: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Correlation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Engine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grouped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these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events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because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occurred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within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30-minute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window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of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other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Step 3: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Heuristic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Classifier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labeled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group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as a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coordinated_attack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because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it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involved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158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unique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nodes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6" name="Resim 5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7356C09-D799-369D-5999-21AC0C954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55234"/>
            <a:ext cx="3310421" cy="1370614"/>
          </a:xfrm>
          <a:prstGeom prst="rect">
            <a:avLst/>
          </a:prstGeom>
        </p:spPr>
      </p:pic>
      <p:pic>
        <p:nvPicPr>
          <p:cNvPr id="11" name="Resim 10" descr="metin, ekran görüntüsü, yazı tipi, doküman, belg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FED804B-8528-62E3-3C2A-0FCD998FA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781" y="3352800"/>
            <a:ext cx="2476846" cy="2724530"/>
          </a:xfrm>
          <a:prstGeom prst="rect">
            <a:avLst/>
          </a:prstGeom>
        </p:spPr>
      </p:pic>
      <p:pic>
        <p:nvPicPr>
          <p:cNvPr id="13" name="Resim 12" descr="yazı tipi, ekran görüntüsü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3EB0B02-71BC-5342-CD2F-5BC00FF33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373" y="5181600"/>
            <a:ext cx="2213830" cy="109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94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D8DF54-5294-F95B-19AC-0DBCCC63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306A4B2-C17D-C64D-2CA6-FD5D78884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FCDB7BE-EFE9-54DF-3ADD-C421E51AB6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12</a:t>
            </a:fld>
            <a:endParaRPr lang="tr-TR" alt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6AFC7EA6-F448-337B-29BE-8C2D0869A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364" y="365601"/>
            <a:ext cx="5163271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58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932EA68-132F-DD9F-17F4-BFE534DC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06363"/>
            <a:ext cx="7848600" cy="579437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3E9DA6C1-C334-323F-B3C3-B0D05EC43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82521"/>
            <a:ext cx="7391400" cy="3473957"/>
          </a:xfrm>
          <a:prstGeom prst="rect">
            <a:avLst/>
          </a:prstGeom>
          <a:noFill/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4E7A129-4D5A-82C6-14B6-500B823C8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</p:spPr>
        <p:txBody>
          <a:bodyPr wrap="square" anchor="t">
            <a:normAutofit fontScale="2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06EA505-76AA-495E-815C-8AF94549A6BB}" type="slidenum">
              <a:rPr lang="tr-TR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tr-TR" altLang="en-US" sz="300"/>
          </a:p>
        </p:txBody>
      </p:sp>
    </p:spTree>
    <p:extLst>
      <p:ext uri="{BB962C8B-B14F-4D97-AF65-F5344CB8AC3E}">
        <p14:creationId xmlns:p14="http://schemas.microsoft.com/office/powerpoint/2010/main" val="3587211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BBFDB-24AD-F605-7CD9-FFDBDDD12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B14737-00A7-D49C-E92B-4493DB868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06363"/>
            <a:ext cx="7848600" cy="579437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Key Findings: A High-Risk Environment</a:t>
            </a:r>
            <a:endParaRPr lang="tr-TR" sz="3400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7755FA5-28CF-1957-4C72-CE2B1710C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865376"/>
            <a:ext cx="4343400" cy="3127247"/>
          </a:xfrm>
          <a:prstGeom prst="rect">
            <a:avLst/>
          </a:prstGeom>
          <a:noFill/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92300F3-AA17-3ABB-2EE3-A9C947999D4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48200" y="914400"/>
            <a:ext cx="4343400" cy="54102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None/>
            </a:pPr>
            <a:r>
              <a:rPr lang="en-US" sz="2000" b="1" dirty="0">
                <a:latin typeface="+mj-lt"/>
              </a:rPr>
              <a:t> A snapshot of the results from the executive summary.</a:t>
            </a:r>
          </a:p>
          <a:p>
            <a:pPr>
              <a:buNone/>
            </a:pPr>
            <a:r>
              <a:rPr lang="en-US" sz="2000" b="1" dirty="0">
                <a:latin typeface="+mj-lt"/>
              </a:rPr>
              <a:t>Infographic-style display of key metrics:</a:t>
            </a:r>
          </a:p>
          <a:p>
            <a:pPr>
              <a:buNone/>
            </a:pPr>
            <a:r>
              <a:rPr lang="en-US" sz="2000" b="1" dirty="0">
                <a:latin typeface="+mj-lt"/>
              </a:rPr>
              <a:t>Overall </a:t>
            </a:r>
            <a:r>
              <a:rPr lang="en-US" sz="2000" b="1" dirty="0" err="1">
                <a:latin typeface="+mj-lt"/>
              </a:rPr>
              <a:t>Risk:HIGH</a:t>
            </a:r>
            <a:r>
              <a:rPr lang="en-US" sz="2000" b="1" dirty="0">
                <a:latin typeface="+mj-lt"/>
              </a:rPr>
              <a:t> Events</a:t>
            </a:r>
            <a:r>
              <a:rPr lang="tr-TR" sz="2000" b="1" dirty="0" err="1">
                <a:latin typeface="+mj-lt"/>
              </a:rPr>
              <a:t>with</a:t>
            </a:r>
            <a:r>
              <a:rPr lang="tr-TR" sz="2000" b="1" dirty="0">
                <a:latin typeface="+mj-lt"/>
              </a:rPr>
              <a:t> </a:t>
            </a:r>
            <a:r>
              <a:rPr lang="tr-TR" sz="2000" b="1" dirty="0" err="1">
                <a:latin typeface="+mj-lt"/>
              </a:rPr>
              <a:t>red</a:t>
            </a:r>
            <a:endParaRPr lang="tr-TR" sz="2000" b="1" dirty="0">
              <a:latin typeface="+mj-lt"/>
            </a:endParaRPr>
          </a:p>
          <a:p>
            <a:pPr>
              <a:buNone/>
            </a:pPr>
            <a:r>
              <a:rPr lang="en-US" sz="2000" b="1" dirty="0">
                <a:latin typeface="+mj-lt"/>
              </a:rPr>
              <a:t>Analyzed:255,342</a:t>
            </a:r>
          </a:p>
          <a:p>
            <a:pPr>
              <a:buNone/>
            </a:pPr>
            <a:r>
              <a:rPr lang="en-US" sz="2000" b="1" dirty="0">
                <a:latin typeface="+mj-lt"/>
              </a:rPr>
              <a:t>Anomalies Detected:5,107 (2.00%)</a:t>
            </a:r>
          </a:p>
          <a:p>
            <a:pPr>
              <a:buNone/>
            </a:pPr>
            <a:r>
              <a:rPr lang="en-US" sz="2000" b="1" dirty="0">
                <a:latin typeface="+mj-lt"/>
              </a:rPr>
              <a:t>Critical Threats Identified:3</a:t>
            </a:r>
            <a:endParaRPr lang="tr-TR" sz="2000" b="1" dirty="0">
              <a:latin typeface="+mj-lt"/>
            </a:endParaRPr>
          </a:p>
          <a:p>
            <a:pPr>
              <a:buNone/>
            </a:pPr>
            <a:r>
              <a:rPr lang="tr-TR" sz="2000" b="1" dirty="0">
                <a:latin typeface="+mj-lt"/>
              </a:rPr>
              <a:t>Analysis Period:2024-04-03 </a:t>
            </a:r>
            <a:r>
              <a:rPr lang="tr-TR" sz="2000" b="1" dirty="0" err="1">
                <a:latin typeface="+mj-lt"/>
              </a:rPr>
              <a:t>to</a:t>
            </a:r>
            <a:r>
              <a:rPr lang="tr-TR" sz="2000" b="1" dirty="0">
                <a:latin typeface="+mj-lt"/>
              </a:rPr>
              <a:t> 2024-12-06</a:t>
            </a:r>
          </a:p>
          <a:p>
            <a:pPr>
              <a:buNone/>
            </a:pPr>
            <a:endParaRPr kumimoji="0" lang="tr-TR" altLang="tr-TR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BEF5CB5-E940-C23E-7F71-728F35FB2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</p:spPr>
        <p:txBody>
          <a:bodyPr wrap="square" anchor="t">
            <a:normAutofit fontScale="2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06EA505-76AA-495E-815C-8AF94549A6BB}" type="slidenum">
              <a:rPr lang="tr-TR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tr-TR" altLang="en-US" sz="300"/>
          </a:p>
        </p:txBody>
      </p:sp>
    </p:spTree>
    <p:extLst>
      <p:ext uri="{BB962C8B-B14F-4D97-AF65-F5344CB8AC3E}">
        <p14:creationId xmlns:p14="http://schemas.microsoft.com/office/powerpoint/2010/main" val="289793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749671-B5DF-9F6E-AA4E-0FAC24D98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8" name="İçerik Yer Tutucusu 7" descr="metin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0C12689-67E1-091C-5289-ECD93CEC8B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2600" y="1275861"/>
            <a:ext cx="5715000" cy="430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40344FB-8E31-BE24-FD1B-9083C0D382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338D69F-0304-D460-B760-2C1AA49E9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08D4-2E9F-4A26-A3CA-FB0C52E2551E}" type="slidenum">
              <a:rPr lang="tr-TR" altLang="en-US" smtClean="0"/>
              <a:pPr/>
              <a:t>15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931323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2EFADB3-6416-52F6-E87D-D74733DC8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06363"/>
            <a:ext cx="7848600" cy="579437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E5BEB8E0-CFEF-068E-71E5-3334DA00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73282"/>
            <a:ext cx="7391400" cy="3492435"/>
          </a:xfrm>
          <a:prstGeom prst="rect">
            <a:avLst/>
          </a:prstGeom>
          <a:noFill/>
        </p:spPr>
      </p:pic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536D304-2788-72FF-B270-0FE340300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53200"/>
            <a:ext cx="457200" cy="76200"/>
          </a:xfrm>
        </p:spPr>
        <p:txBody>
          <a:bodyPr wrap="square" anchor="t">
            <a:normAutofit fontScale="2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0E408D4-2E9F-4A26-A3CA-FB0C52E2551E}" type="slidenum">
              <a:rPr lang="tr-TR" alt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tr-TR" altLang="en-US" sz="300"/>
          </a:p>
        </p:txBody>
      </p:sp>
    </p:spTree>
    <p:extLst>
      <p:ext uri="{BB962C8B-B14F-4D97-AF65-F5344CB8AC3E}">
        <p14:creationId xmlns:p14="http://schemas.microsoft.com/office/powerpoint/2010/main" val="32549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1A808F-7A27-B801-5EDB-E7685318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Performance</a:t>
            </a:r>
            <a:r>
              <a:rPr lang="tr-TR" dirty="0"/>
              <a:t> Evaluation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A5842AD-0D91-060E-1DA7-45D5A7E3D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17</a:t>
            </a:fld>
            <a:endParaRPr lang="tr-TR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51F9256-8AE7-F369-7292-DDEB851F95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95400"/>
            <a:ext cx="67818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Coverage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percentage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Estimated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Rate (FPR):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How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anomalies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benign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Actionability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</a:t>
            </a: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D942DD13-B852-6522-CAD1-967580120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422882"/>
              </p:ext>
            </p:extLst>
          </p:nvPr>
        </p:nvGraphicFramePr>
        <p:xfrm>
          <a:off x="685800" y="3095149"/>
          <a:ext cx="7543800" cy="21158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3180">
                  <a:extLst>
                    <a:ext uri="{9D8B030D-6E8A-4147-A177-3AD203B41FA5}">
                      <a16:colId xmlns:a16="http://schemas.microsoft.com/office/drawing/2014/main" val="2091617118"/>
                    </a:ext>
                  </a:extLst>
                </a:gridCol>
                <a:gridCol w="1933609">
                  <a:extLst>
                    <a:ext uri="{9D8B030D-6E8A-4147-A177-3AD203B41FA5}">
                      <a16:colId xmlns:a16="http://schemas.microsoft.com/office/drawing/2014/main" val="1165059861"/>
                    </a:ext>
                  </a:extLst>
                </a:gridCol>
                <a:gridCol w="1457016">
                  <a:extLst>
                    <a:ext uri="{9D8B030D-6E8A-4147-A177-3AD203B41FA5}">
                      <a16:colId xmlns:a16="http://schemas.microsoft.com/office/drawing/2014/main" val="4061435196"/>
                    </a:ext>
                  </a:extLst>
                </a:gridCol>
                <a:gridCol w="1279995">
                  <a:extLst>
                    <a:ext uri="{9D8B030D-6E8A-4147-A177-3AD203B41FA5}">
                      <a16:colId xmlns:a16="http://schemas.microsoft.com/office/drawing/2014/main" val="2786054223"/>
                    </a:ext>
                  </a:extLst>
                </a:gridCol>
              </a:tblGrid>
              <a:tr h="827948"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>
                          <a:effectLst/>
                        </a:rPr>
                        <a:t> Detection Method </a:t>
                      </a:r>
                      <a:endParaRPr lang="tr-TR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>
                          <a:effectLst/>
                        </a:rPr>
                        <a:t> Detection Coverage </a:t>
                      </a:r>
                      <a:endParaRPr lang="tr-TR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</a:rPr>
                        <a:t>Estimated</a:t>
                      </a:r>
                      <a:r>
                        <a:rPr lang="tr-TR" sz="1400" b="1" u="none" strike="noStrike" dirty="0">
                          <a:effectLst/>
                        </a:rPr>
                        <a:t> FPR 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>
                          <a:effectLst/>
                        </a:rPr>
                        <a:t> Actionability </a:t>
                      </a:r>
                      <a:endParaRPr lang="tr-TR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2176365"/>
                  </a:ext>
                </a:extLst>
              </a:tr>
              <a:tr h="298744"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</a:rPr>
                        <a:t>Baseline</a:t>
                      </a:r>
                      <a:r>
                        <a:rPr lang="tr-TR" sz="1400" b="1" u="none" strike="noStrike" dirty="0">
                          <a:effectLst/>
                        </a:rPr>
                        <a:t>: </a:t>
                      </a:r>
                      <a:r>
                        <a:rPr lang="tr-TR" sz="1400" b="1" u="none" strike="noStrike" dirty="0" err="1">
                          <a:effectLst/>
                        </a:rPr>
                        <a:t>Keyword</a:t>
                      </a:r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</a:rPr>
                        <a:t>Search</a:t>
                      </a:r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  <a:highlight>
                            <a:srgbClr val="FF0000"/>
                          </a:highlight>
                        </a:rPr>
                        <a:t>Very</a:t>
                      </a:r>
                      <a:r>
                        <a:rPr lang="tr-TR" sz="1400" b="1" u="none" strike="noStrike" dirty="0">
                          <a:effectLst/>
                          <a:highlight>
                            <a:srgbClr val="FF0000"/>
                          </a:highlight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  <a:highlight>
                            <a:srgbClr val="FF0000"/>
                          </a:highlight>
                        </a:rPr>
                        <a:t>Low</a:t>
                      </a:r>
                      <a:r>
                        <a:rPr lang="tr-TR" sz="1400" b="1" u="none" strike="noStrike" dirty="0">
                          <a:effectLst/>
                          <a:highlight>
                            <a:srgbClr val="FF0000"/>
                          </a:highlight>
                        </a:rPr>
                        <a:t> (~15%) 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  <a:highlight>
                            <a:srgbClr val="00FF00"/>
                          </a:highlight>
                        </a:rPr>
                        <a:t>Very</a:t>
                      </a:r>
                      <a:r>
                        <a:rPr lang="tr-TR" sz="1400" b="1" u="none" strike="noStrike" dirty="0">
                          <a:effectLst/>
                          <a:highlight>
                            <a:srgbClr val="00FF00"/>
                          </a:highlight>
                        </a:rPr>
                        <a:t> High 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  <a:highlight>
                            <a:srgbClr val="FF0000"/>
                          </a:highlight>
                        </a:rPr>
                        <a:t>Low</a:t>
                      </a:r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405367"/>
                  </a:ext>
                </a:extLst>
              </a:tr>
              <a:tr h="554811">
                <a:tc>
                  <a:txBody>
                    <a:bodyPr/>
                    <a:lstStyle/>
                    <a:p>
                      <a:pPr algn="l" fontAlgn="b"/>
                      <a:r>
                        <a:rPr lang="da-DK" sz="1400" b="1" u="none" strike="noStrike" dirty="0">
                          <a:effectLst/>
                        </a:rPr>
                        <a:t> Single ML Model (e.g., IForest) </a:t>
                      </a:r>
                      <a:endParaRPr lang="da-DK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  <a:highlight>
                            <a:srgbClr val="FFFF00"/>
                          </a:highlight>
                        </a:rPr>
                        <a:t>Medium</a:t>
                      </a:r>
                      <a:r>
                        <a:rPr lang="tr-TR" sz="1400" b="1" u="none" strike="noStrike" dirty="0">
                          <a:effectLst/>
                        </a:rPr>
                        <a:t> (~60%) 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  <a:highlight>
                            <a:srgbClr val="FFFF00"/>
                          </a:highlight>
                        </a:rPr>
                        <a:t>Medium</a:t>
                      </a:r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  <a:highlight>
                            <a:srgbClr val="FFFF00"/>
                          </a:highlight>
                        </a:rPr>
                        <a:t>Medium</a:t>
                      </a:r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6217712"/>
                  </a:ext>
                </a:extLst>
              </a:tr>
              <a:tr h="298744"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</a:rPr>
                        <a:t>Our</a:t>
                      </a:r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</a:rPr>
                        <a:t>Hybrid</a:t>
                      </a:r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</a:rPr>
                        <a:t>Approach</a:t>
                      </a:r>
                      <a:r>
                        <a:rPr lang="tr-TR" sz="1400" b="1" u="none" strike="noStrike" dirty="0">
                          <a:effectLst/>
                        </a:rPr>
                        <a:t> (Final Model)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>
                          <a:effectLst/>
                          <a:highlight>
                            <a:srgbClr val="008000"/>
                          </a:highlight>
                        </a:rPr>
                        <a:t>High</a:t>
                      </a:r>
                      <a:r>
                        <a:rPr lang="tr-TR" sz="1400" b="1" u="none" strike="noStrike" dirty="0">
                          <a:effectLst/>
                        </a:rPr>
                        <a:t> (~90%) 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 err="1">
                          <a:effectLst/>
                          <a:highlight>
                            <a:srgbClr val="FFFF00"/>
                          </a:highlight>
                        </a:rPr>
                        <a:t>Medium</a:t>
                      </a:r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r>
                        <a:rPr lang="tr-TR" sz="1400" b="1" u="none" strike="noStrike" dirty="0">
                          <a:effectLst/>
                          <a:highlight>
                            <a:srgbClr val="008000"/>
                          </a:highlight>
                        </a:rPr>
                        <a:t>High</a:t>
                      </a:r>
                      <a:r>
                        <a:rPr lang="tr-TR" sz="1400" b="1" u="none" strike="noStrike" dirty="0">
                          <a:effectLst/>
                        </a:rPr>
                        <a:t> </a:t>
                      </a:r>
                      <a:endParaRPr lang="tr-TR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08692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9512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B4F23D-5174-FD51-76B5-FBF51C84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QA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C2343D5-7825-93F1-BDEC-70164E872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Kenan Eren Ayyılmaz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2BF5DC4-C85E-E7A0-48C9-E832A0C05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6EA505-76AA-495E-815C-8AF94549A6BB}" type="slidenum">
              <a:rPr lang="tr-TR" altLang="en-US" smtClean="0"/>
              <a:pPr/>
              <a:t>18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62798090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0000"/>
        </a:solidFill>
        <a:ln w="9525" cap="flat" cmpd="sng" algn="ctr">
          <a:solidFill>
            <a:srgbClr val="8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r-T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0000"/>
        </a:solidFill>
        <a:ln w="9525" cap="flat" cmpd="sng" algn="ctr">
          <a:solidFill>
            <a:srgbClr val="8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r-T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2267</TotalTime>
  <Words>809</Words>
  <Application>Microsoft Office PowerPoint</Application>
  <PresentationFormat>Ekran Gösterisi (4:3)</PresentationFormat>
  <Paragraphs>133</Paragraphs>
  <Slides>18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2" baseType="lpstr">
      <vt:lpstr>Aptos Narrow</vt:lpstr>
      <vt:lpstr>Arial</vt:lpstr>
      <vt:lpstr>Tahoma</vt:lpstr>
      <vt:lpstr>Default Design</vt:lpstr>
      <vt:lpstr>Olay ilişkilerini kullanarak Siber saldırı tahmini/tespiti aracı</vt:lpstr>
      <vt:lpstr>Project Overview and Objectives</vt:lpstr>
      <vt:lpstr>The Challenge: Drowning in Data</vt:lpstr>
      <vt:lpstr>PowerPoint Sunusu</vt:lpstr>
      <vt:lpstr>5-Stage Analysis Pipeline</vt:lpstr>
      <vt:lpstr>Stage 1 &amp; 2: Building the Foundation</vt:lpstr>
      <vt:lpstr>Multi-Algorithm Anomaly Detection</vt:lpstr>
      <vt:lpstr>Layer 3: The Unsupervised Anomaly Detection Engine</vt:lpstr>
      <vt:lpstr>Layer 4: The Threat Intelligence Engine</vt:lpstr>
      <vt:lpstr>From Anomalies to Actionable Threats</vt:lpstr>
      <vt:lpstr>Illustrative Finding: Proving the Architecture's Power</vt:lpstr>
      <vt:lpstr>PowerPoint Sunusu</vt:lpstr>
      <vt:lpstr>PowerPoint Sunusu</vt:lpstr>
      <vt:lpstr>Key Findings: A High-Risk Environment</vt:lpstr>
      <vt:lpstr>PowerPoint Sunusu</vt:lpstr>
      <vt:lpstr>PowerPoint Sunusu</vt:lpstr>
      <vt:lpstr>Performance Evaluation</vt:lpstr>
      <vt:lpstr>QA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sunum formati</dc:title>
  <dc:creator>inanc tahrali</dc:creator>
  <cp:lastModifiedBy>KEREM AYYILMAZ</cp:lastModifiedBy>
  <cp:revision>170</cp:revision>
  <dcterms:created xsi:type="dcterms:W3CDTF">2007-08-26T20:02:13Z</dcterms:created>
  <dcterms:modified xsi:type="dcterms:W3CDTF">2026-05-10T21:37:42Z</dcterms:modified>
</cp:coreProperties>
</file>